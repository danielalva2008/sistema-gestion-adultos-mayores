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560F0"/>
                </a:solidFill>
                <a:latin typeface="Segoe UI"/>
              </a:rPr>
              <a:t>DESARROLLO DE PLATAFORMAS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C2733"/>
                </a:solidFill>
                <a:latin typeface="Segoe UI"/>
              </a:rPr>
              <a:t>Sistema de Gestión de Residencia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C2733"/>
                </a:solidFill>
                <a:latin typeface="Segoe UI"/>
              </a:rPr>
              <a:t>para Adultos Mayores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5B6B7B"/>
                </a:solidFill>
                <a:latin typeface="Segoe UI"/>
              </a:rPr>
              <a:t>Módulo de </a:t>
            </a:r>
            <a:r>
              <a:rPr sz="2000" b="1" i="0">
                <a:solidFill>
                  <a:srgbClr val="1C2733"/>
                </a:solidFill>
                <a:latin typeface="Segoe UI"/>
              </a:rPr>
              <a:t>Actividades y Participaciones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67528" y="3703320"/>
            <a:ext cx="1463040" cy="548640"/>
          </a:xfrm>
          <a:prstGeom prst="round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Grupo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709160"/>
            <a:ext cx="3291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733"/>
                </a:solidFill>
                <a:latin typeface="Segoe UI"/>
              </a:rPr>
              <a:t>● Abarca Meléndez, Luis Marcelo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733"/>
                </a:solidFill>
                <a:latin typeface="Segoe UI"/>
              </a:rPr>
              <a:t>● Farroñán Quiñones, Alex Josué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733"/>
                </a:solidFill>
                <a:latin typeface="Segoe UI"/>
              </a:rPr>
              <a:t>● López López, Jheremy Llair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709160"/>
            <a:ext cx="3291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733"/>
                </a:solidFill>
                <a:latin typeface="Segoe UI"/>
              </a:rPr>
              <a:t>● López Tuesta, Julio César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733"/>
                </a:solidFill>
                <a:latin typeface="Segoe UI"/>
              </a:rPr>
              <a:t>● Meza Villacorta, Jhohan Lizandro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2733"/>
                </a:solidFill>
                <a:latin typeface="Segoe UI"/>
              </a:rPr>
              <a:t>● Vargas Córdova, Diego Arnold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7B"/>
                </a:solidFill>
                <a:latin typeface="Segoe UI"/>
              </a:rPr>
              <a:t>PHP 8 · PDO · MySQL / MariaDB · Bootstrap 5  (XAMPP)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VISIÓN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733"/>
                </a:solidFill>
                <a:latin typeface="Segoe UI"/>
              </a:rPr>
              <a:t>¿Qué hace el módulo?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54864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</a:rPr>
              <a:t>Módulo Actividades y Participaciones · Grupo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B7B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669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1C2733"/>
                </a:solidFill>
                <a:latin typeface="Segoe UI"/>
              </a:rPr>
              <a:t>Programa actividades recreativas y terapéuticas para los residentes.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1C2733"/>
                </a:solidFill>
                <a:latin typeface="Segoe UI"/>
              </a:rPr>
              <a:t>Inscribe residentes respetando el cupo disponible de cada actividad.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1C2733"/>
                </a:solidFill>
                <a:latin typeface="Segoe UI"/>
              </a:rPr>
              <a:t>Registra la asistencia de cada participante.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1C2733"/>
                </a:solidFill>
                <a:latin typeface="Segoe UI"/>
              </a:rPr>
              <a:t>Genera un reporte con indicadores de ocupación y asistencia.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600" b="0" i="0">
                <a:solidFill>
                  <a:srgbClr val="1C2733"/>
                </a:solidFill>
                <a:latin typeface="Segoe UI"/>
              </a:rPr>
              <a:t>Arquitectura en capas: vistas, servicios y repositorios.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83080"/>
            <a:ext cx="4846320" cy="4297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0116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560F0"/>
                </a:solidFill>
                <a:latin typeface="Segoe UI"/>
              </a:rPr>
              <a:t>Historias de usuario cubiertas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514600"/>
            <a:ext cx="42976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560F0"/>
                </a:solidFill>
                <a:latin typeface="Segoe UI"/>
              </a:rPr>
              <a:t>✔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HU-01  Programar actividad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560F0"/>
                </a:solidFill>
                <a:latin typeface="Segoe UI"/>
              </a:rPr>
              <a:t>✔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HU-02  Inscribir con control de cupo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560F0"/>
                </a:solidFill>
                <a:latin typeface="Segoe UI"/>
              </a:rPr>
              <a:t>✔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HU-03  Registrar asistencia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560F0"/>
                </a:solidFill>
                <a:latin typeface="Segoe UI"/>
              </a:rPr>
              <a:t>✔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HU-04  Vista / reporte de participación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560F0"/>
                </a:solidFill>
                <a:latin typeface="Segoe UI"/>
              </a:rPr>
              <a:t>✔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HU-05  Listar, buscar y filtrar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560F0"/>
                </a:solidFill>
                <a:latin typeface="Segoe UI"/>
              </a:rPr>
              <a:t>✔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HU-06  Editar actividad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560F0"/>
                </a:solidFill>
                <a:latin typeface="Segoe UI"/>
              </a:rPr>
              <a:t>✔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HU-07  Cancelar (baja lógica)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560F0"/>
                </a:solidFill>
                <a:latin typeface="Segoe UI"/>
              </a:rPr>
              <a:t>✔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HU-08  Anular inscripción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HU-05  ·  LISTADO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733"/>
                </a:solidFill>
                <a:latin typeface="Segoe UI"/>
              </a:rPr>
              <a:t>Consultar, buscar y filtrar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54864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</a:rPr>
              <a:t>Módulo Actividades y Participaciones · Grupo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B7B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2062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1C2733"/>
                </a:solidFill>
                <a:latin typeface="Segoe UI"/>
              </a:rPr>
              <a:t>Tabla con fecha, horario, lugar, responsable y ocupación.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1C2733"/>
                </a:solidFill>
                <a:latin typeface="Segoe UI"/>
              </a:rPr>
              <a:t>Estado calculado: Programada / Finalizada / Cancelada.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1C2733"/>
                </a:solidFill>
                <a:latin typeface="Segoe UI"/>
              </a:rPr>
              <a:t>Alertas automáticas (p. ej. «asistencia incompleta»).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1C2733"/>
                </a:solidFill>
                <a:latin typeface="Segoe UI"/>
              </a:rPr>
              <a:t>Búsqueda por nombre o lugar y filtros por fecha, responsable y estado.</a:t>
            </a:r>
          </a:p>
        </p:txBody>
      </p:sp>
      <p:pic>
        <p:nvPicPr>
          <p:cNvPr id="9" name="Picture 8" descr="02_buscar_fil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26280"/>
            <a:ext cx="4114800" cy="1715460"/>
          </a:xfrm>
          <a:prstGeom prst="rect">
            <a:avLst/>
          </a:prstGeom>
          <a:ln w="12700">
            <a:solidFill>
              <a:srgbClr val="D7DF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626002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B7B"/>
                </a:solidFill>
                <a:latin typeface="Segoe UI"/>
              </a:rPr>
              <a:t>Búsqueda por «Taller».</a:t>
            </a:r>
          </a:p>
        </p:txBody>
      </p:sp>
      <p:pic>
        <p:nvPicPr>
          <p:cNvPr id="11" name="Picture 10" descr="01_lis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45920"/>
            <a:ext cx="4846320" cy="4458129"/>
          </a:xfrm>
          <a:prstGeom prst="rect">
            <a:avLst/>
          </a:prstGeom>
          <a:ln w="12700">
            <a:solidFill>
              <a:srgbClr val="D7DFE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40680" y="6122337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B7B"/>
                </a:solidFill>
                <a:latin typeface="Segoe UI"/>
              </a:rPr>
              <a:t>Listado general de actividades.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HU-01 · HU-06  ·  CREATE /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733"/>
                </a:solidFill>
                <a:latin typeface="Segoe UI"/>
              </a:rPr>
              <a:t>Registrar y editar actividades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54864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</a:rPr>
              <a:t>Módulo Actividades y Participaciones · Grupo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B7B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1C2733"/>
                </a:solidFill>
                <a:latin typeface="Segoe UI"/>
              </a:rPr>
              <a:t>Mismo formulario para alta y edición, con validación en el servidor: campos obligatorios, hora de fin posterior al inicio, cupo entero &gt; 0 y fecha futura. Protegido con token CSRF.</a:t>
            </a:r>
          </a:p>
        </p:txBody>
      </p:sp>
      <p:pic>
        <p:nvPicPr>
          <p:cNvPr id="9" name="Picture 8" descr="04_form_nue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5394960" cy="2753048"/>
          </a:xfrm>
          <a:prstGeom prst="rect">
            <a:avLst/>
          </a:prstGeom>
          <a:ln w="12700">
            <a:solidFill>
              <a:srgbClr val="D7DF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47796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B"/>
                </a:solidFill>
                <a:latin typeface="Segoe UI"/>
              </a:rPr>
              <a:t>Nueva actividad (Create).</a:t>
            </a:r>
          </a:p>
        </p:txBody>
      </p:sp>
      <p:pic>
        <p:nvPicPr>
          <p:cNvPr id="11" name="Picture 10" descr="05_form_edi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97480"/>
            <a:ext cx="5394960" cy="3046533"/>
          </a:xfrm>
          <a:prstGeom prst="rect">
            <a:avLst/>
          </a:prstGeom>
          <a:ln w="12700">
            <a:solidFill>
              <a:srgbClr val="D7DFE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5771445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B"/>
                </a:solidFill>
                <a:latin typeface="Segoe UI"/>
              </a:rPr>
              <a:t>Edición de actividad (Update).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HU-02 · HU-03 · HU-08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733"/>
                </a:solidFill>
                <a:latin typeface="Segoe UI"/>
              </a:rPr>
              <a:t>Participantes: inscripción y asistencia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54864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</a:rPr>
              <a:t>Módulo Actividades y Participaciones · Grupo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B7B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400" b="0" i="0">
                <a:solidFill>
                  <a:srgbClr val="1C2733"/>
                </a:solidFill>
                <a:latin typeface="Segoe UI"/>
              </a:rPr>
              <a:t>El detalle muestra el listado nominal de participantes; desde ahí se inscribe (con control de cupo) y se anula. La asistencia se habilita solo cuando la actividad ya comenzó.</a:t>
            </a:r>
          </a:p>
        </p:txBody>
      </p:sp>
      <p:pic>
        <p:nvPicPr>
          <p:cNvPr id="9" name="Picture 8" descr="03_deta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5394960" cy="2372163"/>
          </a:xfrm>
          <a:prstGeom prst="rect">
            <a:avLst/>
          </a:prstGeom>
          <a:ln w="12700">
            <a:solidFill>
              <a:srgbClr val="D7DF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5142795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B7B"/>
                </a:solidFill>
                <a:latin typeface="Segoe UI"/>
              </a:rPr>
              <a:t>Detalle y participantes (inscribir / anular).</a:t>
            </a:r>
          </a:p>
        </p:txBody>
      </p:sp>
      <p:pic>
        <p:nvPicPr>
          <p:cNvPr id="11" name="Picture 10" descr="06_asist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43200"/>
            <a:ext cx="5394960" cy="2566382"/>
          </a:xfrm>
          <a:prstGeom prst="rect">
            <a:avLst/>
          </a:prstGeom>
          <a:ln w="12700">
            <a:solidFill>
              <a:srgbClr val="D7DFE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5337014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B7B"/>
                </a:solidFill>
                <a:latin typeface="Segoe UI"/>
              </a:rPr>
              <a:t>Registro de asistencia.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HU-04  ·  INDICADORES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733"/>
                </a:solidFill>
                <a:latin typeface="Segoe UI"/>
              </a:rPr>
              <a:t>Reporte de participación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54864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</a:rPr>
              <a:t>Módulo Actividades y Participaciones · Grupo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B7B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3891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500" b="0" i="0">
                <a:solidFill>
                  <a:srgbClr val="1C2733"/>
                </a:solidFill>
                <a:latin typeface="Segoe UI"/>
              </a:rPr>
              <a:t>Indicadores por actividad: inscritos, asistieron, no asistieron y pendientes.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500" b="0" i="0">
                <a:solidFill>
                  <a:srgbClr val="1C2733"/>
                </a:solidFill>
                <a:latin typeface="Segoe UI"/>
              </a:rPr>
              <a:t>% de ocupación y % de asistencia.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500" b="0" i="0">
                <a:solidFill>
                  <a:srgbClr val="1C2733"/>
                </a:solidFill>
                <a:latin typeface="Segoe UI"/>
              </a:rPr>
              <a:t>Si aún no hay asistencia, muestra «—» en lugar de error.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500" b="0" i="0">
                <a:solidFill>
                  <a:srgbClr val="1C2733"/>
                </a:solidFill>
                <a:latin typeface="Segoe UI"/>
              </a:rPr>
              <a:t>Detalle nominal desde la vista vw_participacion_actividades.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500" b="0" i="0">
                <a:solidFill>
                  <a:srgbClr val="1C2733"/>
                </a:solidFill>
                <a:latin typeface="Segoe UI"/>
              </a:rPr>
              <a:t>Filtros por nombre de actividad y rango de fechas.</a:t>
            </a:r>
          </a:p>
        </p:txBody>
      </p:sp>
      <p:pic>
        <p:nvPicPr>
          <p:cNvPr id="9" name="Picture 8" descr="07_repo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45920"/>
            <a:ext cx="3108960" cy="4665616"/>
          </a:xfrm>
          <a:prstGeom prst="rect">
            <a:avLst/>
          </a:prstGeom>
          <a:ln w="12700">
            <a:solidFill>
              <a:srgbClr val="D7DF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720840" y="63550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B7B"/>
                </a:solidFill>
                <a:latin typeface="Segoe UI"/>
              </a:rPr>
              <a:t>Reporte con indicadores por actividad.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CALIDAD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733"/>
                </a:solidFill>
                <a:latin typeface="Segoe UI"/>
              </a:rPr>
              <a:t>Reglas de negocio y seguridad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54864"/>
          </a:xfrm>
          <a:prstGeom prst="rect">
            <a:avLst/>
          </a:prstGeom>
          <a:solidFill>
            <a:srgbClr val="156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</a:rPr>
              <a:t>Módulo Actividades y Participaciones · Grupo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1908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6B7B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486400" cy="4297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560F0"/>
                </a:solidFill>
                <a:latin typeface="Segoe UI"/>
              </a:rPr>
              <a:t>Reglas de negocio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5029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Datos obligatorios y límites de longitud.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Hora de fin posterior a la de inicio.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Cupo entero &gt; 0; no menor a los ya inscritos.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Actividad nueva con fecha y hora futuras.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Sin sobrecupo ni inscripción duplicada.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Asistencia solo tras iniciar; no reversible.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560F0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Cancelar = baja lógica (reactivable).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5120640" cy="429768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7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560F0"/>
                </a:solidFill>
                <a:latin typeface="Segoe UI"/>
              </a:rPr>
              <a:t>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6634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🔒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Consultas 100% preparadas (SQL).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🔒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Escape anti-XSS con htmlspecialchars.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🔒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Token CSRF con hash_equals.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🔒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IDs validados con FILTER_VALIDATE_INT.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🔒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Listas blancas en WHERE / ORDER BY.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1560F0"/>
                </a:solidFill>
                <a:latin typeface="Segoe UI"/>
              </a:rPr>
              <a:t>🔒 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Transacciones con SELECT … FOR UPDATE.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25780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560F0"/>
                </a:solidFill>
                <a:latin typeface="Segoe UI"/>
              </a:rPr>
              <a:t>Conclusión: </a:t>
            </a:r>
            <a:r>
              <a:rPr sz="1350" b="0" i="0">
                <a:solidFill>
                  <a:srgbClr val="1C2733"/>
                </a:solidFill>
                <a:latin typeface="Segoe UI"/>
              </a:rPr>
              <a:t>módulo funcional, seguro y coherente con el esquema oficial de la base de datos.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